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64" r:id="rId3"/>
    <p:sldId id="271" r:id="rId4"/>
    <p:sldId id="272" r:id="rId5"/>
    <p:sldId id="273" r:id="rId6"/>
    <p:sldId id="276" r:id="rId7"/>
    <p:sldId id="275" r:id="rId8"/>
    <p:sldId id="261" r:id="rId9"/>
    <p:sldId id="274" r:id="rId10"/>
    <p:sldId id="258" r:id="rId11"/>
    <p:sldId id="266" r:id="rId12"/>
    <p:sldId id="277" r:id="rId13"/>
    <p:sldId id="278" r:id="rId14"/>
    <p:sldId id="279" r:id="rId15"/>
    <p:sldId id="280" r:id="rId16"/>
    <p:sldId id="270" r:id="rId17"/>
  </p:sldIdLst>
  <p:sldSz cx="18288000" cy="10287000"/>
  <p:notesSz cx="6858000" cy="9144000"/>
  <p:embeddedFontLst>
    <p:embeddedFont>
      <p:font typeface="Garet" panose="020B0604020202020204" charset="0"/>
      <p:regular r:id="rId19"/>
    </p:embeddedFont>
    <p:embeddedFont>
      <p:font typeface="Garet Bold" panose="020B0604020202020204" charset="0"/>
      <p:regular r:id="rId20"/>
    </p:embeddedFont>
    <p:embeddedFont>
      <p:font typeface="Horizon" panose="020B0604020202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22" autoAdjust="0"/>
  </p:normalViewPr>
  <p:slideViewPr>
    <p:cSldViewPr>
      <p:cViewPr varScale="1">
        <p:scale>
          <a:sx n="52" d="100"/>
          <a:sy n="52" d="100"/>
        </p:scale>
        <p:origin x="74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F6D03-FE45-4F75-86C5-B0721DF4B29F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A96AF7-2BC4-4393-A435-5BDDC59F74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3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A96AF7-2BC4-4393-A435-5BDDC59F74C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297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 advTm="1000">
        <p159:morph option="byObject"/>
      </p:transition>
    </mc:Choice>
    <mc:Fallback xmlns="">
      <p:transition spd="slow" advClick="0" advTm="1000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jp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sv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sv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svg"/><Relationship Id="rId7" Type="http://schemas.openxmlformats.org/officeDocument/2006/relationships/image" Target="../media/image10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4.png"/><Relationship Id="rId5" Type="http://schemas.openxmlformats.org/officeDocument/2006/relationships/image" Target="../media/image7.png"/><Relationship Id="rId10" Type="http://schemas.openxmlformats.org/officeDocument/2006/relationships/image" Target="../media/image13.png"/><Relationship Id="rId4" Type="http://schemas.openxmlformats.org/officeDocument/2006/relationships/image" Target="../media/image6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sv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svg"/><Relationship Id="rId7" Type="http://schemas.openxmlformats.org/officeDocument/2006/relationships/image" Target="../media/image9.pn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4.png"/><Relationship Id="rId5" Type="http://schemas.openxmlformats.org/officeDocument/2006/relationships/image" Target="../media/image7.png"/><Relationship Id="rId10" Type="http://schemas.openxmlformats.org/officeDocument/2006/relationships/image" Target="../media/image13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286000" y="-2476500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7" y="0"/>
                </a:lnTo>
                <a:lnTo>
                  <a:pt x="7309077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4" name="TextBox 4"/>
          <p:cNvSpPr txBox="1"/>
          <p:nvPr/>
        </p:nvSpPr>
        <p:spPr>
          <a:xfrm>
            <a:off x="3626713" y="4832138"/>
            <a:ext cx="11034573" cy="12445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144"/>
              </a:lnSpc>
            </a:pPr>
            <a:r>
              <a:rPr lang="en-US" sz="9600" dirty="0" err="1">
                <a:solidFill>
                  <a:srgbClr val="F3F3F7"/>
                </a:solidFill>
                <a:latin typeface="Horizon"/>
                <a:ea typeface="Horizon"/>
                <a:cs typeface="Horizon"/>
                <a:sym typeface="Horizon"/>
              </a:rPr>
              <a:t>Digitronix</a:t>
            </a:r>
            <a:endParaRPr lang="en-US" sz="9600" dirty="0">
              <a:solidFill>
                <a:srgbClr val="F3F3F7"/>
              </a:solidFill>
              <a:latin typeface="Horizon"/>
              <a:ea typeface="Horizon"/>
              <a:cs typeface="Horizon"/>
              <a:sym typeface="Horizon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0199433" y="-2933700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7" y="0"/>
                </a:lnTo>
                <a:lnTo>
                  <a:pt x="7309077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287331" y="217541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7" y="0"/>
                </a:lnTo>
                <a:lnTo>
                  <a:pt x="7309077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16" name="Group 16"/>
          <p:cNvGrpSpPr/>
          <p:nvPr/>
        </p:nvGrpSpPr>
        <p:grpSpPr>
          <a:xfrm>
            <a:off x="8962329" y="8109012"/>
            <a:ext cx="363341" cy="363341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97250" y="1377999"/>
            <a:ext cx="5862054" cy="1473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12"/>
              </a:lnSpc>
            </a:pPr>
            <a:r>
              <a:rPr lang="en-US" sz="54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Table of contents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5994241" y="1993741"/>
            <a:ext cx="6299517" cy="6299517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>
            <a:off x="14161211" y="-335702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7" y="0"/>
                </a:lnTo>
                <a:lnTo>
                  <a:pt x="7309077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287331" y="217541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7" y="0"/>
                </a:lnTo>
                <a:lnTo>
                  <a:pt x="7309077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grpSp>
        <p:nvGrpSpPr>
          <p:cNvPr id="8" name="Group 8"/>
          <p:cNvGrpSpPr/>
          <p:nvPr/>
        </p:nvGrpSpPr>
        <p:grpSpPr>
          <a:xfrm>
            <a:off x="5812571" y="4961829"/>
            <a:ext cx="363341" cy="363341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701420" y="4914204"/>
            <a:ext cx="2853714" cy="421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8"/>
              </a:lnSpc>
              <a:spcBef>
                <a:spcPct val="0"/>
              </a:spcBef>
            </a:pPr>
            <a:r>
              <a:rPr lang="en-US" sz="2455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1. Our Team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2767" y="795187"/>
            <a:ext cx="5862054" cy="1473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12"/>
              </a:lnSpc>
            </a:pPr>
            <a:r>
              <a:rPr lang="en-US" sz="54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Table of contents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5994241" y="1993741"/>
            <a:ext cx="6299517" cy="6299517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>
            <a:off x="14161211" y="-335702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7" y="0"/>
                </a:lnTo>
                <a:lnTo>
                  <a:pt x="7309077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50566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287331" y="217541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7" y="0"/>
                </a:lnTo>
                <a:lnTo>
                  <a:pt x="7309077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4" name="TextBox 4"/>
          <p:cNvSpPr txBox="1"/>
          <p:nvPr/>
        </p:nvSpPr>
        <p:spPr>
          <a:xfrm>
            <a:off x="7059304" y="1279229"/>
            <a:ext cx="4177702" cy="4214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38"/>
              </a:lnSpc>
              <a:spcBef>
                <a:spcPct val="0"/>
              </a:spcBef>
            </a:pPr>
            <a:r>
              <a:rPr lang="en-US" sz="2455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2. Stages of realization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8962329" y="1812071"/>
            <a:ext cx="363341" cy="363341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701420" y="4914204"/>
            <a:ext cx="2853714" cy="421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8"/>
              </a:lnSpc>
              <a:spcBef>
                <a:spcPct val="0"/>
              </a:spcBef>
            </a:pPr>
            <a:r>
              <a:rPr lang="en-US" sz="2455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1. Our Team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2767" y="802511"/>
            <a:ext cx="5862054" cy="1473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12"/>
              </a:lnSpc>
            </a:pPr>
            <a:r>
              <a:rPr lang="en-US" sz="54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Table of contents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5994241" y="1993741"/>
            <a:ext cx="6299517" cy="6299517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>
            <a:off x="14161211" y="-335702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7" y="0"/>
                </a:lnTo>
                <a:lnTo>
                  <a:pt x="7309077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50883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287331" y="217541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7" y="0"/>
                </a:lnTo>
                <a:lnTo>
                  <a:pt x="7309077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4" name="TextBox 4"/>
          <p:cNvSpPr txBox="1"/>
          <p:nvPr/>
        </p:nvSpPr>
        <p:spPr>
          <a:xfrm>
            <a:off x="7059304" y="1279229"/>
            <a:ext cx="4177702" cy="4214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38"/>
              </a:lnSpc>
              <a:spcBef>
                <a:spcPct val="0"/>
              </a:spcBef>
            </a:pPr>
            <a:r>
              <a:rPr lang="en-US" sz="2455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2. Stages of realization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2113837" y="4961829"/>
            <a:ext cx="363341" cy="363341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701420" y="4914204"/>
            <a:ext cx="2853714" cy="421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8"/>
              </a:lnSpc>
              <a:spcBef>
                <a:spcPct val="0"/>
              </a:spcBef>
            </a:pPr>
            <a:r>
              <a:rPr lang="en-US" sz="2455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1. Our Team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734354" y="4914204"/>
            <a:ext cx="2853714" cy="857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8"/>
              </a:lnSpc>
              <a:spcBef>
                <a:spcPct val="0"/>
              </a:spcBef>
            </a:pPr>
            <a:r>
              <a:rPr lang="en-US" sz="2455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3. Used </a:t>
            </a:r>
            <a:r>
              <a:rPr lang="en-US" sz="2455" dirty="0" err="1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Tehnologies</a:t>
            </a:r>
            <a:endParaRPr lang="en-US" sz="2455" dirty="0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738318" y="802511"/>
            <a:ext cx="5862054" cy="1473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712"/>
              </a:lnSpc>
            </a:pPr>
            <a:r>
              <a:rPr lang="en-US" sz="54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Table of contents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5994241" y="1993741"/>
            <a:ext cx="6299517" cy="6299517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bg-BG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>
            <a:off x="14161211" y="-335702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7" y="0"/>
                </a:lnTo>
                <a:lnTo>
                  <a:pt x="7309077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90844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A person with long hair wearing a white shirt&#10;&#10;AI-generated content may be incorrect.">
            <a:extLst>
              <a:ext uri="{FF2B5EF4-FFF2-40B4-BE49-F238E27FC236}">
                <a16:creationId xmlns:a16="http://schemas.microsoft.com/office/drawing/2014/main" id="{E751A484-175B-99A6-5026-AB58D65ED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856853" y="3653028"/>
            <a:ext cx="2980944" cy="29809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8" name="Picture 27" descr="A person taking a selfie&#10;&#10;AI-generated content may be incorrect.">
            <a:extLst>
              <a:ext uri="{FF2B5EF4-FFF2-40B4-BE49-F238E27FC236}">
                <a16:creationId xmlns:a16="http://schemas.microsoft.com/office/drawing/2014/main" id="{4D724546-4B73-157D-DDD8-54BC3396F8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982539" y="3580199"/>
            <a:ext cx="2980944" cy="2980944"/>
          </a:xfrm>
          <a:prstGeom prst="roundRect">
            <a:avLst>
              <a:gd name="adj" fmla="val 16667"/>
            </a:avLst>
          </a:prstGeom>
          <a:ln>
            <a:solidFill>
              <a:schemeClr val="bg1">
                <a:lumMod val="95000"/>
              </a:schemeClr>
            </a:solidFill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6" name="Picture 25" descr="A person in a white shirt&#10;&#10;AI-generated content may be incorrect.">
            <a:extLst>
              <a:ext uri="{FF2B5EF4-FFF2-40B4-BE49-F238E27FC236}">
                <a16:creationId xmlns:a16="http://schemas.microsoft.com/office/drawing/2014/main" id="{6584A99F-F064-33B0-6811-C2558980D7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919696" y="3564610"/>
            <a:ext cx="2980944" cy="2980944"/>
          </a:xfrm>
          <a:prstGeom prst="roundRect">
            <a:avLst>
              <a:gd name="adj" fmla="val 16667"/>
            </a:avLst>
          </a:prstGeom>
          <a:ln>
            <a:solidFill>
              <a:schemeClr val="bg1">
                <a:lumMod val="95000"/>
              </a:schemeClr>
            </a:solidFill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" name="Freeform 2"/>
          <p:cNvSpPr/>
          <p:nvPr/>
        </p:nvSpPr>
        <p:spPr>
          <a:xfrm>
            <a:off x="-297804" y="5676900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4" name="TextBox 14"/>
          <p:cNvSpPr txBox="1"/>
          <p:nvPr/>
        </p:nvSpPr>
        <p:spPr>
          <a:xfrm>
            <a:off x="-4163690" y="7022806"/>
            <a:ext cx="3594618" cy="456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624" b="1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Selin </a:t>
            </a: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Vatansever</a:t>
            </a:r>
            <a:endParaRPr lang="en-US" sz="2624" b="1" dirty="0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8809914" y="-3394616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8" name="TextBox 18"/>
          <p:cNvSpPr txBox="1"/>
          <p:nvPr/>
        </p:nvSpPr>
        <p:spPr>
          <a:xfrm>
            <a:off x="-4163690" y="7295443"/>
            <a:ext cx="3594618" cy="456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Rafail</a:t>
            </a:r>
            <a:r>
              <a:rPr lang="en-US" sz="2624" b="1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 </a:t>
            </a: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Kolibarov</a:t>
            </a:r>
            <a:endParaRPr lang="en-US" sz="2624" b="1" dirty="0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-3293446" y="7889252"/>
            <a:ext cx="2453646" cy="30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sz="1791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Scrum Trainer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-4193080" y="7111224"/>
            <a:ext cx="3594618" cy="456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Radoslav</a:t>
            </a:r>
            <a:r>
              <a:rPr lang="en-US" sz="2624" b="1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 </a:t>
            </a: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Stoyanov</a:t>
            </a:r>
            <a:endParaRPr lang="en-US" sz="2624" b="1" dirty="0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-3329555" y="7715038"/>
            <a:ext cx="2453646" cy="30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sz="1791" dirty="0" err="1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FrontEnd</a:t>
            </a:r>
            <a:r>
              <a:rPr lang="en-US" sz="1791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Developer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-3728568" y="7715038"/>
            <a:ext cx="2453646" cy="30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sz="1791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Designer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318016" y="1311930"/>
            <a:ext cx="7587653" cy="10560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35"/>
              </a:lnSpc>
            </a:pPr>
            <a:r>
              <a:rPr lang="en-US" sz="72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Our TEAM</a:t>
            </a:r>
          </a:p>
        </p:txBody>
      </p:sp>
    </p:spTree>
    <p:extLst>
      <p:ext uri="{BB962C8B-B14F-4D97-AF65-F5344CB8AC3E}">
        <p14:creationId xmlns:p14="http://schemas.microsoft.com/office/powerpoint/2010/main" val="13454779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A person with long hair wearing a white shirt&#10;&#10;AI-generated content may be incorrect.">
            <a:extLst>
              <a:ext uri="{FF2B5EF4-FFF2-40B4-BE49-F238E27FC236}">
                <a16:creationId xmlns:a16="http://schemas.microsoft.com/office/drawing/2014/main" id="{E751A484-175B-99A6-5026-AB58D65ED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856853" y="3653028"/>
            <a:ext cx="2980944" cy="29809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8" name="Picture 27" descr="A person taking a selfie&#10;&#10;AI-generated content may be incorrect.">
            <a:extLst>
              <a:ext uri="{FF2B5EF4-FFF2-40B4-BE49-F238E27FC236}">
                <a16:creationId xmlns:a16="http://schemas.microsoft.com/office/drawing/2014/main" id="{4D724546-4B73-157D-DDD8-54BC3396F8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982539" y="3580199"/>
            <a:ext cx="2980944" cy="2980944"/>
          </a:xfrm>
          <a:prstGeom prst="roundRect">
            <a:avLst>
              <a:gd name="adj" fmla="val 16667"/>
            </a:avLst>
          </a:prstGeom>
          <a:ln>
            <a:solidFill>
              <a:schemeClr val="bg1">
                <a:lumMod val="95000"/>
              </a:schemeClr>
            </a:solidFill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6" name="Picture 25" descr="A person in a white shirt&#10;&#10;AI-generated content may be incorrect.">
            <a:extLst>
              <a:ext uri="{FF2B5EF4-FFF2-40B4-BE49-F238E27FC236}">
                <a16:creationId xmlns:a16="http://schemas.microsoft.com/office/drawing/2014/main" id="{6584A99F-F064-33B0-6811-C2558980D7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6538" y="3580199"/>
            <a:ext cx="2980944" cy="2980944"/>
          </a:xfrm>
          <a:prstGeom prst="roundRect">
            <a:avLst>
              <a:gd name="adj" fmla="val 16667"/>
            </a:avLst>
          </a:prstGeom>
          <a:ln>
            <a:solidFill>
              <a:schemeClr val="bg1">
                <a:lumMod val="95000"/>
              </a:schemeClr>
            </a:solidFill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" name="Freeform 2"/>
          <p:cNvSpPr/>
          <p:nvPr/>
        </p:nvSpPr>
        <p:spPr>
          <a:xfrm>
            <a:off x="-297804" y="5676900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4" name="TextBox 14"/>
          <p:cNvSpPr txBox="1"/>
          <p:nvPr/>
        </p:nvSpPr>
        <p:spPr>
          <a:xfrm>
            <a:off x="-4163690" y="7022806"/>
            <a:ext cx="3594618" cy="456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624" b="1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Selin </a:t>
            </a: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Vatansever</a:t>
            </a:r>
            <a:endParaRPr lang="en-US" sz="2624" b="1" dirty="0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8809914" y="-3394616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8" name="TextBox 18"/>
          <p:cNvSpPr txBox="1"/>
          <p:nvPr/>
        </p:nvSpPr>
        <p:spPr>
          <a:xfrm>
            <a:off x="3005541" y="7009171"/>
            <a:ext cx="3594618" cy="456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Rafail</a:t>
            </a:r>
            <a:r>
              <a:rPr lang="en-US" sz="2624" b="1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 </a:t>
            </a: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Kolibarov</a:t>
            </a:r>
            <a:endParaRPr lang="en-US" sz="2624" b="1" dirty="0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3576027" y="7409173"/>
            <a:ext cx="2453646" cy="30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sz="1791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Scrum Trainer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-4193080" y="7111224"/>
            <a:ext cx="3594618" cy="456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Radoslav</a:t>
            </a:r>
            <a:r>
              <a:rPr lang="en-US" sz="2624" b="1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 </a:t>
            </a: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Stoyanov</a:t>
            </a:r>
            <a:endParaRPr lang="en-US" sz="2624" b="1" dirty="0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-3329555" y="7715038"/>
            <a:ext cx="2453646" cy="30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sz="1791" dirty="0" err="1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FrontEnd</a:t>
            </a:r>
            <a:r>
              <a:rPr lang="en-US" sz="1791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Developer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-3728568" y="7715038"/>
            <a:ext cx="2453646" cy="30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sz="1791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Designer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318016" y="1311930"/>
            <a:ext cx="7587653" cy="10560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35"/>
              </a:lnSpc>
            </a:pPr>
            <a:r>
              <a:rPr lang="en-US" sz="72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Our TEAM</a:t>
            </a:r>
          </a:p>
        </p:txBody>
      </p:sp>
    </p:spTree>
    <p:extLst>
      <p:ext uri="{BB962C8B-B14F-4D97-AF65-F5344CB8AC3E}">
        <p14:creationId xmlns:p14="http://schemas.microsoft.com/office/powerpoint/2010/main" val="9311447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A person with long hair wearing a white shirt&#10;&#10;AI-generated content may be incorrect.">
            <a:extLst>
              <a:ext uri="{FF2B5EF4-FFF2-40B4-BE49-F238E27FC236}">
                <a16:creationId xmlns:a16="http://schemas.microsoft.com/office/drawing/2014/main" id="{E751A484-175B-99A6-5026-AB58D65ED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856853" y="3653028"/>
            <a:ext cx="2980944" cy="29809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6" name="Picture 25" descr="A person in a white shirt&#10;&#10;AI-generated content may be incorrect.">
            <a:extLst>
              <a:ext uri="{FF2B5EF4-FFF2-40B4-BE49-F238E27FC236}">
                <a16:creationId xmlns:a16="http://schemas.microsoft.com/office/drawing/2014/main" id="{6584A99F-F064-33B0-6811-C2558980D7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6538" y="3580199"/>
            <a:ext cx="2980944" cy="2980944"/>
          </a:xfrm>
          <a:prstGeom prst="roundRect">
            <a:avLst>
              <a:gd name="adj" fmla="val 16667"/>
            </a:avLst>
          </a:prstGeom>
          <a:ln>
            <a:solidFill>
              <a:schemeClr val="bg1">
                <a:lumMod val="95000"/>
              </a:schemeClr>
            </a:solidFill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" name="Freeform 2"/>
          <p:cNvSpPr/>
          <p:nvPr/>
        </p:nvSpPr>
        <p:spPr>
          <a:xfrm>
            <a:off x="-297804" y="5676900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4" name="TextBox 14"/>
          <p:cNvSpPr txBox="1"/>
          <p:nvPr/>
        </p:nvSpPr>
        <p:spPr>
          <a:xfrm>
            <a:off x="-4163690" y="7022806"/>
            <a:ext cx="3594618" cy="456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624" b="1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Selin </a:t>
            </a: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Vatansever</a:t>
            </a:r>
            <a:endParaRPr lang="en-US" sz="2624" b="1" dirty="0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8809914" y="-3394616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8" name="TextBox 18"/>
          <p:cNvSpPr txBox="1"/>
          <p:nvPr/>
        </p:nvSpPr>
        <p:spPr>
          <a:xfrm>
            <a:off x="3005541" y="7009171"/>
            <a:ext cx="3594618" cy="456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Rafail</a:t>
            </a:r>
            <a:r>
              <a:rPr lang="en-US" sz="2624" b="1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 </a:t>
            </a: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Kolibarov</a:t>
            </a:r>
            <a:endParaRPr lang="en-US" sz="2624" b="1" dirty="0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3576027" y="7409173"/>
            <a:ext cx="2453646" cy="30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sz="1791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Scrum Trainer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-3728568" y="7715038"/>
            <a:ext cx="2453646" cy="30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sz="1791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Designer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318016" y="1311930"/>
            <a:ext cx="7587653" cy="10560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35"/>
              </a:lnSpc>
            </a:pPr>
            <a:r>
              <a:rPr lang="en-US" sz="72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Our TEAM</a:t>
            </a:r>
          </a:p>
        </p:txBody>
      </p:sp>
      <p:pic>
        <p:nvPicPr>
          <p:cNvPr id="28" name="Picture 27" descr="A person taking a selfie&#10;&#10;AI-generated content may be incorrect.">
            <a:extLst>
              <a:ext uri="{FF2B5EF4-FFF2-40B4-BE49-F238E27FC236}">
                <a16:creationId xmlns:a16="http://schemas.microsoft.com/office/drawing/2014/main" id="{4D724546-4B73-157D-DDD8-54BC3396F8A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3704" y="3580199"/>
            <a:ext cx="2980944" cy="2980944"/>
          </a:xfrm>
          <a:prstGeom prst="roundRect">
            <a:avLst>
              <a:gd name="adj" fmla="val 16667"/>
            </a:avLst>
          </a:prstGeom>
          <a:ln>
            <a:solidFill>
              <a:schemeClr val="bg1">
                <a:lumMod val="95000"/>
              </a:schemeClr>
            </a:solidFill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1" name="TextBox 21"/>
          <p:cNvSpPr txBox="1"/>
          <p:nvPr/>
        </p:nvSpPr>
        <p:spPr>
          <a:xfrm>
            <a:off x="7314534" y="7009171"/>
            <a:ext cx="3594618" cy="456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Radoslav</a:t>
            </a:r>
            <a:r>
              <a:rPr lang="en-US" sz="2624" b="1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 </a:t>
            </a: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Stoyanov</a:t>
            </a:r>
            <a:endParaRPr lang="en-US" sz="2624" b="1" dirty="0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7885020" y="7409173"/>
            <a:ext cx="2453646" cy="30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sz="1791" dirty="0" err="1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FrontEnd</a:t>
            </a:r>
            <a:r>
              <a:rPr lang="en-US" sz="1791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Developer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person taking a selfie&#10;&#10;AI-generated content may be incorrect.">
            <a:extLst>
              <a:ext uri="{FF2B5EF4-FFF2-40B4-BE49-F238E27FC236}">
                <a16:creationId xmlns:a16="http://schemas.microsoft.com/office/drawing/2014/main" id="{4D724546-4B73-157D-DDD8-54BC3396F8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3704" y="3580199"/>
            <a:ext cx="2980944" cy="2980944"/>
          </a:xfrm>
          <a:prstGeom prst="roundRect">
            <a:avLst>
              <a:gd name="adj" fmla="val 16667"/>
            </a:avLst>
          </a:prstGeom>
          <a:ln>
            <a:solidFill>
              <a:schemeClr val="bg1">
                <a:lumMod val="95000"/>
              </a:schemeClr>
            </a:solidFill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6" name="Picture 25" descr="A person in a white shirt&#10;&#10;AI-generated content may be incorrect.">
            <a:extLst>
              <a:ext uri="{FF2B5EF4-FFF2-40B4-BE49-F238E27FC236}">
                <a16:creationId xmlns:a16="http://schemas.microsoft.com/office/drawing/2014/main" id="{6584A99F-F064-33B0-6811-C2558980D7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6538" y="3580199"/>
            <a:ext cx="2980944" cy="2980944"/>
          </a:xfrm>
          <a:prstGeom prst="roundRect">
            <a:avLst>
              <a:gd name="adj" fmla="val 16667"/>
            </a:avLst>
          </a:prstGeom>
          <a:ln>
            <a:solidFill>
              <a:schemeClr val="bg1">
                <a:lumMod val="95000"/>
              </a:schemeClr>
            </a:solidFill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" name="Freeform 2"/>
          <p:cNvSpPr/>
          <p:nvPr/>
        </p:nvSpPr>
        <p:spPr>
          <a:xfrm>
            <a:off x="-297804" y="5676900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6" name="Freeform 16"/>
          <p:cNvSpPr/>
          <p:nvPr/>
        </p:nvSpPr>
        <p:spPr>
          <a:xfrm>
            <a:off x="8809914" y="-3394616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8" name="TextBox 18"/>
          <p:cNvSpPr txBox="1"/>
          <p:nvPr/>
        </p:nvSpPr>
        <p:spPr>
          <a:xfrm>
            <a:off x="3005541" y="7009171"/>
            <a:ext cx="3594618" cy="456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Rafail</a:t>
            </a:r>
            <a:r>
              <a:rPr lang="en-US" sz="2624" b="1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 </a:t>
            </a: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Kolibarov</a:t>
            </a:r>
            <a:endParaRPr lang="en-US" sz="2624" b="1" dirty="0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3576027" y="7409173"/>
            <a:ext cx="2453646" cy="30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sz="1791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Scrum Trainer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314534" y="7009171"/>
            <a:ext cx="3594618" cy="456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Radoslav</a:t>
            </a:r>
            <a:r>
              <a:rPr lang="en-US" sz="2624" b="1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 </a:t>
            </a: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Stoyanov</a:t>
            </a:r>
            <a:endParaRPr lang="en-US" sz="2624" b="1" dirty="0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7885020" y="7409173"/>
            <a:ext cx="2453646" cy="30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sz="1791" dirty="0" err="1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FrontEnd</a:t>
            </a:r>
            <a:r>
              <a:rPr lang="en-US" sz="1791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Developer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318016" y="1311930"/>
            <a:ext cx="7587653" cy="10560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35"/>
              </a:lnSpc>
            </a:pPr>
            <a:r>
              <a:rPr lang="en-US" sz="72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Our TEAM</a:t>
            </a:r>
          </a:p>
        </p:txBody>
      </p:sp>
      <p:pic>
        <p:nvPicPr>
          <p:cNvPr id="30" name="Picture 29" descr="A person with long hair wearing a white shirt&#10;&#10;AI-generated content may be incorrect.">
            <a:extLst>
              <a:ext uri="{FF2B5EF4-FFF2-40B4-BE49-F238E27FC236}">
                <a16:creationId xmlns:a16="http://schemas.microsoft.com/office/drawing/2014/main" id="{E751A484-175B-99A6-5026-AB58D65ED0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10308" y="3580199"/>
            <a:ext cx="2980944" cy="29809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3" name="TextBox 23"/>
          <p:cNvSpPr txBox="1"/>
          <p:nvPr/>
        </p:nvSpPr>
        <p:spPr>
          <a:xfrm>
            <a:off x="12194014" y="7409173"/>
            <a:ext cx="2453646" cy="306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</a:pPr>
            <a:r>
              <a:rPr lang="en-US" sz="1791" dirty="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Designer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623528" y="7009171"/>
            <a:ext cx="3594618" cy="456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624" b="1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Selin </a:t>
            </a:r>
            <a:r>
              <a:rPr lang="en-US" sz="2624" b="1" dirty="0" err="1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Vatansever</a:t>
            </a:r>
            <a:endParaRPr lang="en-US" sz="2624" b="1" dirty="0">
              <a:solidFill>
                <a:srgbClr val="FFFFFF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</p:spTree>
    <p:extLst>
      <p:ext uri="{BB962C8B-B14F-4D97-AF65-F5344CB8AC3E}">
        <p14:creationId xmlns:p14="http://schemas.microsoft.com/office/powerpoint/2010/main" val="344819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/>
          <p:nvPr/>
        </p:nvSpPr>
        <p:spPr>
          <a:xfrm>
            <a:off x="2819400" y="-2826990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" name="Freeform 2"/>
          <p:cNvSpPr/>
          <p:nvPr/>
        </p:nvSpPr>
        <p:spPr>
          <a:xfrm>
            <a:off x="5791200" y="5817744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4" name="TextBox 4"/>
          <p:cNvSpPr txBox="1"/>
          <p:nvPr/>
        </p:nvSpPr>
        <p:spPr>
          <a:xfrm>
            <a:off x="4411027" y="934483"/>
            <a:ext cx="9465946" cy="20948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8135"/>
              </a:lnSpc>
            </a:pPr>
            <a:r>
              <a:rPr lang="en-US" sz="72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Stages of realization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656335" y="4469256"/>
            <a:ext cx="10975330" cy="4924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3200" b="0" i="0" dirty="0">
                <a:solidFill>
                  <a:srgbClr val="F0F6FC"/>
                </a:solidFill>
                <a:effectLst/>
                <a:latin typeface="Garet" panose="020B0604020202020204" charset="-52"/>
              </a:rPr>
              <a:t>We made a simple implementation of the classic Minesweeper game built using C++ and </a:t>
            </a:r>
            <a:r>
              <a:rPr lang="en-US" sz="3200" b="0" i="0" dirty="0" err="1">
                <a:solidFill>
                  <a:srgbClr val="F0F6FC"/>
                </a:solidFill>
                <a:effectLst/>
                <a:latin typeface="Garet" panose="020B0604020202020204" charset="-52"/>
              </a:rPr>
              <a:t>Raylib</a:t>
            </a:r>
            <a:r>
              <a:rPr lang="en-US" sz="3200" b="0" i="0" dirty="0">
                <a:solidFill>
                  <a:srgbClr val="F0F6FC"/>
                </a:solidFill>
                <a:effectLst/>
                <a:latin typeface="Garet" panose="020B0604020202020204" charset="-52"/>
              </a:rPr>
              <a:t>. The game features random mine placement, cell reveal logic, flagging system, and automatic win/loss detection. This project demonstrates core C++ concepts such as loops, functions, and basic game logic. We used </a:t>
            </a:r>
            <a:r>
              <a:rPr lang="en-US" sz="3200" b="0" i="0" dirty="0" err="1">
                <a:solidFill>
                  <a:srgbClr val="F0F6FC"/>
                </a:solidFill>
                <a:effectLst/>
                <a:latin typeface="Garet" panose="020B0604020202020204" charset="-52"/>
              </a:rPr>
              <a:t>Raylib</a:t>
            </a:r>
            <a:r>
              <a:rPr lang="en-US" sz="3200" b="0" i="0" dirty="0">
                <a:solidFill>
                  <a:srgbClr val="F0F6FC"/>
                </a:solidFill>
                <a:effectLst/>
                <a:latin typeface="Garet" panose="020B0604020202020204" charset="-52"/>
              </a:rPr>
              <a:t> for our drawing to look like the real game than a console-based program.</a:t>
            </a:r>
          </a:p>
          <a:p>
            <a:pPr algn="ctr"/>
            <a:br>
              <a:rPr lang="en-US" sz="3200" dirty="0"/>
            </a:br>
            <a:endParaRPr lang="en-US" sz="3200" dirty="0">
              <a:solidFill>
                <a:srgbClr val="FFFFFF"/>
              </a:solidFill>
              <a:latin typeface="Garet"/>
              <a:ea typeface="Garet"/>
              <a:cs typeface="Garet"/>
              <a:sym typeface="Gare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/>
          <p:cNvSpPr/>
          <p:nvPr/>
        </p:nvSpPr>
        <p:spPr>
          <a:xfrm>
            <a:off x="10378996" y="6469318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9" name="Freeform 9"/>
          <p:cNvSpPr/>
          <p:nvPr/>
        </p:nvSpPr>
        <p:spPr>
          <a:xfrm>
            <a:off x="-840375" y="-275205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20" name="Picture 19" descr="A blue and white logo&#10;&#10;AI-generated content may be incorrect.">
            <a:extLst>
              <a:ext uri="{FF2B5EF4-FFF2-40B4-BE49-F238E27FC236}">
                <a16:creationId xmlns:a16="http://schemas.microsoft.com/office/drawing/2014/main" id="{74DC35D6-7EA7-5325-393F-46AF1A28C3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79763" y="5521673"/>
            <a:ext cx="2980944" cy="2980944"/>
          </a:xfrm>
          <a:prstGeom prst="rect">
            <a:avLst/>
          </a:prstGeom>
        </p:spPr>
      </p:pic>
      <p:pic>
        <p:nvPicPr>
          <p:cNvPr id="22" name="Picture 21" descr="A group of blue and white squares with a white letter&#10;&#10;AI-generated content may be incorrect.">
            <a:extLst>
              <a:ext uri="{FF2B5EF4-FFF2-40B4-BE49-F238E27FC236}">
                <a16:creationId xmlns:a16="http://schemas.microsoft.com/office/drawing/2014/main" id="{832E7D84-A7C5-6D4C-25BB-D9A53D16048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76030" y="5571868"/>
            <a:ext cx="2980944" cy="2980944"/>
          </a:xfrm>
          <a:prstGeom prst="rect">
            <a:avLst/>
          </a:prstGeom>
        </p:spPr>
      </p:pic>
      <p:pic>
        <p:nvPicPr>
          <p:cNvPr id="24" name="Picture 23" descr="A logo of a company&#10;&#10;AI-generated content may be incorrect.">
            <a:extLst>
              <a:ext uri="{FF2B5EF4-FFF2-40B4-BE49-F238E27FC236}">
                <a16:creationId xmlns:a16="http://schemas.microsoft.com/office/drawing/2014/main" id="{03A25FC8-17B6-D75C-DF2B-C8D76E14C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41895" y="4394575"/>
            <a:ext cx="7233275" cy="5424956"/>
          </a:xfrm>
          <a:prstGeom prst="rect">
            <a:avLst/>
          </a:prstGeom>
        </p:spPr>
      </p:pic>
      <p:pic>
        <p:nvPicPr>
          <p:cNvPr id="26" name="Picture 25" descr="A blue hexagon with white letter c and plus symbols&#10;&#10;AI-generated content may be incorrect.">
            <a:extLst>
              <a:ext uri="{FF2B5EF4-FFF2-40B4-BE49-F238E27FC236}">
                <a16:creationId xmlns:a16="http://schemas.microsoft.com/office/drawing/2014/main" id="{6760F619-5CE1-8610-72E3-70C101E0811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486825" y="1958689"/>
            <a:ext cx="4795068" cy="3596301"/>
          </a:xfrm>
          <a:prstGeom prst="rect">
            <a:avLst/>
          </a:prstGeom>
        </p:spPr>
      </p:pic>
      <p:pic>
        <p:nvPicPr>
          <p:cNvPr id="28" name="Picture 27" descr="A purple ribbon in a shape of a infinity symbol&#10;&#10;AI-generated content may be incorrect.">
            <a:extLst>
              <a:ext uri="{FF2B5EF4-FFF2-40B4-BE49-F238E27FC236}">
                <a16:creationId xmlns:a16="http://schemas.microsoft.com/office/drawing/2014/main" id="{83A5B54D-CD20-EA09-A2B7-966A4BA671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821319" y="2266368"/>
            <a:ext cx="2980944" cy="2980944"/>
          </a:xfrm>
          <a:prstGeom prst="rect">
            <a:avLst/>
          </a:prstGeom>
        </p:spPr>
      </p:pic>
      <p:pic>
        <p:nvPicPr>
          <p:cNvPr id="30" name="Picture 29" descr="A red and black sign&#10;&#10;AI-generated content may be incorrect.">
            <a:extLst>
              <a:ext uri="{FF2B5EF4-FFF2-40B4-BE49-F238E27FC236}">
                <a16:creationId xmlns:a16="http://schemas.microsoft.com/office/drawing/2014/main" id="{1828767A-706D-28FB-7C0B-BFA15E15643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76030" y="2174863"/>
            <a:ext cx="2916013" cy="2980944"/>
          </a:xfrm>
          <a:prstGeom prst="rect">
            <a:avLst/>
          </a:prstGeom>
        </p:spPr>
      </p:pic>
      <p:pic>
        <p:nvPicPr>
          <p:cNvPr id="34" name="Picture 33" descr="A blue and purple circle with white text&#10;&#10;AI-generated content may be incorrect.">
            <a:extLst>
              <a:ext uri="{FF2B5EF4-FFF2-40B4-BE49-F238E27FC236}">
                <a16:creationId xmlns:a16="http://schemas.microsoft.com/office/drawing/2014/main" id="{8BB291E8-E3EA-ACCD-E941-C9B32D3679C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65567" y="5860434"/>
            <a:ext cx="2980944" cy="2980944"/>
          </a:xfrm>
          <a:prstGeom prst="rect">
            <a:avLst/>
          </a:prstGeom>
        </p:spPr>
      </p:pic>
      <p:pic>
        <p:nvPicPr>
          <p:cNvPr id="38" name="Picture 37" descr="A white square with black text&#10;&#10;AI-generated content may be incorrect.">
            <a:extLst>
              <a:ext uri="{FF2B5EF4-FFF2-40B4-BE49-F238E27FC236}">
                <a16:creationId xmlns:a16="http://schemas.microsoft.com/office/drawing/2014/main" id="{1E22FB1F-121A-C823-DE1B-089B25DD0B5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79763" y="2157985"/>
            <a:ext cx="2980944" cy="2980944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639863" y="545496"/>
            <a:ext cx="15008274" cy="10560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35"/>
              </a:lnSpc>
            </a:pPr>
            <a:r>
              <a:rPr lang="en-US" sz="72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Used </a:t>
            </a:r>
            <a:r>
              <a:rPr lang="en-US" sz="7200" dirty="0" err="1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tehnologies</a:t>
            </a:r>
            <a:endParaRPr lang="en-US" sz="7200" dirty="0">
              <a:solidFill>
                <a:srgbClr val="FFFFFF"/>
              </a:solidFill>
              <a:latin typeface="Horizon"/>
              <a:ea typeface="Horizon"/>
              <a:cs typeface="Horizon"/>
              <a:sym typeface="Horizon"/>
            </a:endParaRPr>
          </a:p>
        </p:txBody>
      </p:sp>
      <p:pic>
        <p:nvPicPr>
          <p:cNvPr id="32" name="Picture 31" descr="A logo of a cat&#10;&#10;AI-generated content may be incorrect.">
            <a:extLst>
              <a:ext uri="{FF2B5EF4-FFF2-40B4-BE49-F238E27FC236}">
                <a16:creationId xmlns:a16="http://schemas.microsoft.com/office/drawing/2014/main" id="{52916E03-9355-0BD2-7676-22B5ACBE5C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00541" y="2150250"/>
            <a:ext cx="2980944" cy="29809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/>
          <p:cNvSpPr/>
          <p:nvPr/>
        </p:nvSpPr>
        <p:spPr>
          <a:xfrm>
            <a:off x="10378996" y="6469318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9" name="Freeform 9"/>
          <p:cNvSpPr/>
          <p:nvPr/>
        </p:nvSpPr>
        <p:spPr>
          <a:xfrm>
            <a:off x="-840375" y="-275205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20" name="Picture 19" descr="A blue and white logo&#10;&#10;AI-generated content may be incorrect.">
            <a:extLst>
              <a:ext uri="{FF2B5EF4-FFF2-40B4-BE49-F238E27FC236}">
                <a16:creationId xmlns:a16="http://schemas.microsoft.com/office/drawing/2014/main" id="{74DC35D6-7EA7-5325-393F-46AF1A28C3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76600" y="5593391"/>
            <a:ext cx="2980944" cy="2980944"/>
          </a:xfrm>
          <a:prstGeom prst="rect">
            <a:avLst/>
          </a:prstGeom>
        </p:spPr>
      </p:pic>
      <p:pic>
        <p:nvPicPr>
          <p:cNvPr id="22" name="Picture 21" descr="A group of blue and white squares with a white letter&#10;&#10;AI-generated content may be incorrect.">
            <a:extLst>
              <a:ext uri="{FF2B5EF4-FFF2-40B4-BE49-F238E27FC236}">
                <a16:creationId xmlns:a16="http://schemas.microsoft.com/office/drawing/2014/main" id="{832E7D84-A7C5-6D4C-25BB-D9A53D16048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831544" y="5640033"/>
            <a:ext cx="2980944" cy="2980944"/>
          </a:xfrm>
          <a:prstGeom prst="rect">
            <a:avLst/>
          </a:prstGeom>
        </p:spPr>
      </p:pic>
      <p:pic>
        <p:nvPicPr>
          <p:cNvPr id="24" name="Picture 23" descr="A logo of a company&#10;&#10;AI-generated content may be incorrect.">
            <a:extLst>
              <a:ext uri="{FF2B5EF4-FFF2-40B4-BE49-F238E27FC236}">
                <a16:creationId xmlns:a16="http://schemas.microsoft.com/office/drawing/2014/main" id="{03A25FC8-17B6-D75C-DF2B-C8D76E14C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56865" y="4862044"/>
            <a:ext cx="7233275" cy="5424956"/>
          </a:xfrm>
          <a:prstGeom prst="rect">
            <a:avLst/>
          </a:prstGeom>
        </p:spPr>
      </p:pic>
      <p:pic>
        <p:nvPicPr>
          <p:cNvPr id="26" name="Picture 25" descr="A blue hexagon with white letter c and plus symbols&#10;&#10;AI-generated content may be incorrect.">
            <a:extLst>
              <a:ext uri="{FF2B5EF4-FFF2-40B4-BE49-F238E27FC236}">
                <a16:creationId xmlns:a16="http://schemas.microsoft.com/office/drawing/2014/main" id="{6760F619-5CE1-8610-72E3-70C101E0811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989435" y="2117769"/>
            <a:ext cx="4795068" cy="3596301"/>
          </a:xfrm>
          <a:prstGeom prst="rect">
            <a:avLst/>
          </a:prstGeom>
        </p:spPr>
      </p:pic>
      <p:pic>
        <p:nvPicPr>
          <p:cNvPr id="28" name="Picture 27" descr="A purple ribbon in a shape of a infinity symbol&#10;&#10;AI-generated content may be incorrect.">
            <a:extLst>
              <a:ext uri="{FF2B5EF4-FFF2-40B4-BE49-F238E27FC236}">
                <a16:creationId xmlns:a16="http://schemas.microsoft.com/office/drawing/2014/main" id="{83A5B54D-CD20-EA09-A2B7-966A4BA671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052" y="2251085"/>
            <a:ext cx="2980944" cy="2980944"/>
          </a:xfrm>
          <a:prstGeom prst="rect">
            <a:avLst/>
          </a:prstGeom>
        </p:spPr>
      </p:pic>
      <p:pic>
        <p:nvPicPr>
          <p:cNvPr id="30" name="Picture 29" descr="A red and black sign&#10;&#10;AI-generated content may be incorrect.">
            <a:extLst>
              <a:ext uri="{FF2B5EF4-FFF2-40B4-BE49-F238E27FC236}">
                <a16:creationId xmlns:a16="http://schemas.microsoft.com/office/drawing/2014/main" id="{1828767A-706D-28FB-7C0B-BFA15E15643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770" y="2251085"/>
            <a:ext cx="2916013" cy="2980944"/>
          </a:xfrm>
          <a:prstGeom prst="rect">
            <a:avLst/>
          </a:prstGeom>
        </p:spPr>
      </p:pic>
      <p:pic>
        <p:nvPicPr>
          <p:cNvPr id="34" name="Picture 33" descr="A blue and purple circle with white text&#10;&#10;AI-generated content may be incorrect.">
            <a:extLst>
              <a:ext uri="{FF2B5EF4-FFF2-40B4-BE49-F238E27FC236}">
                <a16:creationId xmlns:a16="http://schemas.microsoft.com/office/drawing/2014/main" id="{8BB291E8-E3EA-ACCD-E941-C9B32D3679C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62237" y="6324738"/>
            <a:ext cx="2980944" cy="2980944"/>
          </a:xfrm>
          <a:prstGeom prst="rect">
            <a:avLst/>
          </a:prstGeom>
        </p:spPr>
      </p:pic>
      <p:pic>
        <p:nvPicPr>
          <p:cNvPr id="38" name="Picture 37" descr="A white square with black text&#10;&#10;AI-generated content may be incorrect.">
            <a:extLst>
              <a:ext uri="{FF2B5EF4-FFF2-40B4-BE49-F238E27FC236}">
                <a16:creationId xmlns:a16="http://schemas.microsoft.com/office/drawing/2014/main" id="{1E22FB1F-121A-C823-DE1B-089B25DD0B5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3746" y="2266368"/>
            <a:ext cx="2980944" cy="2980944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639863" y="545496"/>
            <a:ext cx="15008274" cy="10560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35"/>
              </a:lnSpc>
            </a:pPr>
            <a:r>
              <a:rPr lang="en-US" sz="72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Used </a:t>
            </a:r>
            <a:r>
              <a:rPr lang="en-US" sz="7200" dirty="0" err="1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tehnologies</a:t>
            </a:r>
            <a:endParaRPr lang="en-US" sz="7200" dirty="0">
              <a:solidFill>
                <a:srgbClr val="FFFFFF"/>
              </a:solidFill>
              <a:latin typeface="Horizon"/>
              <a:ea typeface="Horizon"/>
              <a:cs typeface="Horizon"/>
              <a:sym typeface="Horizon"/>
            </a:endParaRPr>
          </a:p>
        </p:txBody>
      </p:sp>
      <p:pic>
        <p:nvPicPr>
          <p:cNvPr id="32" name="Picture 31" descr="A logo of a cat&#10;&#10;AI-generated content may be incorrect.">
            <a:extLst>
              <a:ext uri="{FF2B5EF4-FFF2-40B4-BE49-F238E27FC236}">
                <a16:creationId xmlns:a16="http://schemas.microsoft.com/office/drawing/2014/main" id="{52916E03-9355-0BD2-7676-22B5ACBE5C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170" y="2124493"/>
            <a:ext cx="2980944" cy="2980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03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/>
          <p:cNvSpPr/>
          <p:nvPr/>
        </p:nvSpPr>
        <p:spPr>
          <a:xfrm>
            <a:off x="10378996" y="6469318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9" name="Freeform 9"/>
          <p:cNvSpPr/>
          <p:nvPr/>
        </p:nvSpPr>
        <p:spPr>
          <a:xfrm>
            <a:off x="-840375" y="-275205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20" name="Picture 19" descr="A blue and white logo&#10;&#10;AI-generated content may be incorrect.">
            <a:extLst>
              <a:ext uri="{FF2B5EF4-FFF2-40B4-BE49-F238E27FC236}">
                <a16:creationId xmlns:a16="http://schemas.microsoft.com/office/drawing/2014/main" id="{74DC35D6-7EA7-5325-393F-46AF1A28C3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43400" y="5599242"/>
            <a:ext cx="2980944" cy="2980944"/>
          </a:xfrm>
          <a:prstGeom prst="rect">
            <a:avLst/>
          </a:prstGeom>
        </p:spPr>
      </p:pic>
      <p:pic>
        <p:nvPicPr>
          <p:cNvPr id="22" name="Picture 21" descr="A group of blue and white squares with a white letter&#10;&#10;AI-generated content may be incorrect.">
            <a:extLst>
              <a:ext uri="{FF2B5EF4-FFF2-40B4-BE49-F238E27FC236}">
                <a16:creationId xmlns:a16="http://schemas.microsoft.com/office/drawing/2014/main" id="{832E7D84-A7C5-6D4C-25BB-D9A53D16048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09865" y="5905500"/>
            <a:ext cx="2980944" cy="2980944"/>
          </a:xfrm>
          <a:prstGeom prst="rect">
            <a:avLst/>
          </a:prstGeom>
        </p:spPr>
      </p:pic>
      <p:pic>
        <p:nvPicPr>
          <p:cNvPr id="24" name="Picture 23" descr="A logo of a company&#10;&#10;AI-generated content may be incorrect.">
            <a:extLst>
              <a:ext uri="{FF2B5EF4-FFF2-40B4-BE49-F238E27FC236}">
                <a16:creationId xmlns:a16="http://schemas.microsoft.com/office/drawing/2014/main" id="{03A25FC8-17B6-D75C-DF2B-C8D76E14C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280800" y="4406371"/>
            <a:ext cx="7233275" cy="5424956"/>
          </a:xfrm>
          <a:prstGeom prst="rect">
            <a:avLst/>
          </a:prstGeom>
        </p:spPr>
      </p:pic>
      <p:pic>
        <p:nvPicPr>
          <p:cNvPr id="28" name="Picture 27" descr="A purple ribbon in a shape of a infinity symbol&#10;&#10;AI-generated content may be incorrect.">
            <a:extLst>
              <a:ext uri="{FF2B5EF4-FFF2-40B4-BE49-F238E27FC236}">
                <a16:creationId xmlns:a16="http://schemas.microsoft.com/office/drawing/2014/main" id="{83A5B54D-CD20-EA09-A2B7-966A4BA671A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052" y="2251085"/>
            <a:ext cx="2980944" cy="2980944"/>
          </a:xfrm>
          <a:prstGeom prst="rect">
            <a:avLst/>
          </a:prstGeom>
        </p:spPr>
      </p:pic>
      <p:pic>
        <p:nvPicPr>
          <p:cNvPr id="30" name="Picture 29" descr="A red and black sign&#10;&#10;AI-generated content may be incorrect.">
            <a:extLst>
              <a:ext uri="{FF2B5EF4-FFF2-40B4-BE49-F238E27FC236}">
                <a16:creationId xmlns:a16="http://schemas.microsoft.com/office/drawing/2014/main" id="{1828767A-706D-28FB-7C0B-BFA15E15643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770" y="2251085"/>
            <a:ext cx="2916013" cy="2980944"/>
          </a:xfrm>
          <a:prstGeom prst="rect">
            <a:avLst/>
          </a:prstGeom>
        </p:spPr>
      </p:pic>
      <p:pic>
        <p:nvPicPr>
          <p:cNvPr id="34" name="Picture 33" descr="A blue and purple circle with white text&#10;&#10;AI-generated content may be incorrect.">
            <a:extLst>
              <a:ext uri="{FF2B5EF4-FFF2-40B4-BE49-F238E27FC236}">
                <a16:creationId xmlns:a16="http://schemas.microsoft.com/office/drawing/2014/main" id="{8BB291E8-E3EA-ACCD-E941-C9B32D3679CC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02173" y="5832353"/>
            <a:ext cx="2980944" cy="2980944"/>
          </a:xfrm>
          <a:prstGeom prst="rect">
            <a:avLst/>
          </a:prstGeom>
        </p:spPr>
      </p:pic>
      <p:pic>
        <p:nvPicPr>
          <p:cNvPr id="38" name="Picture 37" descr="A white square with black text&#10;&#10;AI-generated content may be incorrect.">
            <a:extLst>
              <a:ext uri="{FF2B5EF4-FFF2-40B4-BE49-F238E27FC236}">
                <a16:creationId xmlns:a16="http://schemas.microsoft.com/office/drawing/2014/main" id="{1E22FB1F-121A-C823-DE1B-089B25DD0B5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3746" y="2266368"/>
            <a:ext cx="2980944" cy="2980944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639863" y="545496"/>
            <a:ext cx="15008274" cy="10560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35"/>
              </a:lnSpc>
            </a:pPr>
            <a:r>
              <a:rPr lang="en-US" sz="72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Used </a:t>
            </a:r>
            <a:r>
              <a:rPr lang="en-US" sz="7200" dirty="0" err="1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tehnologies</a:t>
            </a:r>
            <a:endParaRPr lang="en-US" sz="7200" dirty="0">
              <a:solidFill>
                <a:srgbClr val="FFFFFF"/>
              </a:solidFill>
              <a:latin typeface="Horizon"/>
              <a:ea typeface="Horizon"/>
              <a:cs typeface="Horizon"/>
              <a:sym typeface="Horizon"/>
            </a:endParaRPr>
          </a:p>
        </p:txBody>
      </p:sp>
      <p:pic>
        <p:nvPicPr>
          <p:cNvPr id="32" name="Picture 31" descr="A logo of a cat&#10;&#10;AI-generated content may be incorrect.">
            <a:extLst>
              <a:ext uri="{FF2B5EF4-FFF2-40B4-BE49-F238E27FC236}">
                <a16:creationId xmlns:a16="http://schemas.microsoft.com/office/drawing/2014/main" id="{52916E03-9355-0BD2-7676-22B5ACBE5CF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170" y="2124493"/>
            <a:ext cx="2980944" cy="2980944"/>
          </a:xfrm>
          <a:prstGeom prst="rect">
            <a:avLst/>
          </a:prstGeom>
        </p:spPr>
      </p:pic>
      <p:pic>
        <p:nvPicPr>
          <p:cNvPr id="26" name="Picture 25" descr="A blue hexagon with white letter c and plus symbols&#10;&#10;AI-generated content may be incorrect.">
            <a:extLst>
              <a:ext uri="{FF2B5EF4-FFF2-40B4-BE49-F238E27FC236}">
                <a16:creationId xmlns:a16="http://schemas.microsoft.com/office/drawing/2014/main" id="{6760F619-5CE1-8610-72E3-70C101E08118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7609" y="2150250"/>
            <a:ext cx="4795068" cy="3596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024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/>
          <p:cNvSpPr/>
          <p:nvPr/>
        </p:nvSpPr>
        <p:spPr>
          <a:xfrm>
            <a:off x="10378996" y="6469318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9" name="Freeform 9"/>
          <p:cNvSpPr/>
          <p:nvPr/>
        </p:nvSpPr>
        <p:spPr>
          <a:xfrm>
            <a:off x="-840375" y="-275205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20" name="Picture 19" descr="A blue and white logo&#10;&#10;AI-generated content may be incorrect.">
            <a:extLst>
              <a:ext uri="{FF2B5EF4-FFF2-40B4-BE49-F238E27FC236}">
                <a16:creationId xmlns:a16="http://schemas.microsoft.com/office/drawing/2014/main" id="{74DC35D6-7EA7-5325-393F-46AF1A28C3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6114" y="5628377"/>
            <a:ext cx="2980944" cy="2980944"/>
          </a:xfrm>
          <a:prstGeom prst="rect">
            <a:avLst/>
          </a:prstGeom>
        </p:spPr>
      </p:pic>
      <p:pic>
        <p:nvPicPr>
          <p:cNvPr id="22" name="Picture 21" descr="A group of blue and white squares with a white letter&#10;&#10;AI-generated content may be incorrect.">
            <a:extLst>
              <a:ext uri="{FF2B5EF4-FFF2-40B4-BE49-F238E27FC236}">
                <a16:creationId xmlns:a16="http://schemas.microsoft.com/office/drawing/2014/main" id="{832E7D84-A7C5-6D4C-25BB-D9A53D16048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823" y="5628377"/>
            <a:ext cx="2980944" cy="2980944"/>
          </a:xfrm>
          <a:prstGeom prst="rect">
            <a:avLst/>
          </a:prstGeom>
        </p:spPr>
      </p:pic>
      <p:pic>
        <p:nvPicPr>
          <p:cNvPr id="24" name="Picture 23" descr="A logo of a company&#10;&#10;AI-generated content may be incorrect.">
            <a:extLst>
              <a:ext uri="{FF2B5EF4-FFF2-40B4-BE49-F238E27FC236}">
                <a16:creationId xmlns:a16="http://schemas.microsoft.com/office/drawing/2014/main" id="{03A25FC8-17B6-D75C-DF2B-C8D76E14C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783" y="4406371"/>
            <a:ext cx="7233275" cy="5424956"/>
          </a:xfrm>
          <a:prstGeom prst="rect">
            <a:avLst/>
          </a:prstGeom>
        </p:spPr>
      </p:pic>
      <p:pic>
        <p:nvPicPr>
          <p:cNvPr id="26" name="Picture 25" descr="A blue hexagon with white letter c and plus symbols&#10;&#10;AI-generated content may be incorrect.">
            <a:extLst>
              <a:ext uri="{FF2B5EF4-FFF2-40B4-BE49-F238E27FC236}">
                <a16:creationId xmlns:a16="http://schemas.microsoft.com/office/drawing/2014/main" id="{6760F619-5CE1-8610-72E3-70C101E0811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7609" y="2150250"/>
            <a:ext cx="4795068" cy="3596301"/>
          </a:xfrm>
          <a:prstGeom prst="rect">
            <a:avLst/>
          </a:prstGeom>
        </p:spPr>
      </p:pic>
      <p:pic>
        <p:nvPicPr>
          <p:cNvPr id="28" name="Picture 27" descr="A purple ribbon in a shape of a infinity symbol&#10;&#10;AI-generated content may be incorrect.">
            <a:extLst>
              <a:ext uri="{FF2B5EF4-FFF2-40B4-BE49-F238E27FC236}">
                <a16:creationId xmlns:a16="http://schemas.microsoft.com/office/drawing/2014/main" id="{83A5B54D-CD20-EA09-A2B7-966A4BA671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052" y="2251085"/>
            <a:ext cx="2980944" cy="2980944"/>
          </a:xfrm>
          <a:prstGeom prst="rect">
            <a:avLst/>
          </a:prstGeom>
        </p:spPr>
      </p:pic>
      <p:pic>
        <p:nvPicPr>
          <p:cNvPr id="30" name="Picture 29" descr="A red and black sign&#10;&#10;AI-generated content may be incorrect.">
            <a:extLst>
              <a:ext uri="{FF2B5EF4-FFF2-40B4-BE49-F238E27FC236}">
                <a16:creationId xmlns:a16="http://schemas.microsoft.com/office/drawing/2014/main" id="{1828767A-706D-28FB-7C0B-BFA15E15643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770" y="2251085"/>
            <a:ext cx="2916013" cy="2980944"/>
          </a:xfrm>
          <a:prstGeom prst="rect">
            <a:avLst/>
          </a:prstGeom>
        </p:spPr>
      </p:pic>
      <p:pic>
        <p:nvPicPr>
          <p:cNvPr id="34" name="Picture 33" descr="A blue and purple circle with white text&#10;&#10;AI-generated content may be incorrect.">
            <a:extLst>
              <a:ext uri="{FF2B5EF4-FFF2-40B4-BE49-F238E27FC236}">
                <a16:creationId xmlns:a16="http://schemas.microsoft.com/office/drawing/2014/main" id="{8BB291E8-E3EA-ACCD-E941-C9B32D3679C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43834" y="5448300"/>
            <a:ext cx="2980944" cy="2980944"/>
          </a:xfrm>
          <a:prstGeom prst="rect">
            <a:avLst/>
          </a:prstGeom>
        </p:spPr>
      </p:pic>
      <p:pic>
        <p:nvPicPr>
          <p:cNvPr id="38" name="Picture 37" descr="A white square with black text&#10;&#10;AI-generated content may be incorrect.">
            <a:extLst>
              <a:ext uri="{FF2B5EF4-FFF2-40B4-BE49-F238E27FC236}">
                <a16:creationId xmlns:a16="http://schemas.microsoft.com/office/drawing/2014/main" id="{1E22FB1F-121A-C823-DE1B-089B25DD0B5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3746" y="2266368"/>
            <a:ext cx="2980944" cy="2980944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639863" y="545496"/>
            <a:ext cx="15008274" cy="10560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35"/>
              </a:lnSpc>
            </a:pPr>
            <a:r>
              <a:rPr lang="en-US" sz="72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Used </a:t>
            </a:r>
            <a:r>
              <a:rPr lang="en-US" sz="7200" dirty="0" err="1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tehnologies</a:t>
            </a:r>
            <a:endParaRPr lang="en-US" sz="7200" dirty="0">
              <a:solidFill>
                <a:srgbClr val="FFFFFF"/>
              </a:solidFill>
              <a:latin typeface="Horizon"/>
              <a:ea typeface="Horizon"/>
              <a:cs typeface="Horizon"/>
              <a:sym typeface="Horizon"/>
            </a:endParaRPr>
          </a:p>
        </p:txBody>
      </p:sp>
      <p:pic>
        <p:nvPicPr>
          <p:cNvPr id="32" name="Picture 31" descr="A logo of a cat&#10;&#10;AI-generated content may be incorrect.">
            <a:extLst>
              <a:ext uri="{FF2B5EF4-FFF2-40B4-BE49-F238E27FC236}">
                <a16:creationId xmlns:a16="http://schemas.microsoft.com/office/drawing/2014/main" id="{52916E03-9355-0BD2-7676-22B5ACBE5C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170" y="2124493"/>
            <a:ext cx="2980944" cy="2980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119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/>
          <p:cNvSpPr/>
          <p:nvPr/>
        </p:nvSpPr>
        <p:spPr>
          <a:xfrm>
            <a:off x="10378996" y="6469318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9" name="Freeform 9"/>
          <p:cNvSpPr/>
          <p:nvPr/>
        </p:nvSpPr>
        <p:spPr>
          <a:xfrm>
            <a:off x="-840375" y="-2752052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6"/>
                </a:lnTo>
                <a:lnTo>
                  <a:pt x="0" y="73090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20" name="Picture 19" descr="A blue and white logo&#10;&#10;AI-generated content may be incorrect.">
            <a:extLst>
              <a:ext uri="{FF2B5EF4-FFF2-40B4-BE49-F238E27FC236}">
                <a16:creationId xmlns:a16="http://schemas.microsoft.com/office/drawing/2014/main" id="{74DC35D6-7EA7-5325-393F-46AF1A28C3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6114" y="5628377"/>
            <a:ext cx="2980944" cy="2980944"/>
          </a:xfrm>
          <a:prstGeom prst="rect">
            <a:avLst/>
          </a:prstGeom>
        </p:spPr>
      </p:pic>
      <p:pic>
        <p:nvPicPr>
          <p:cNvPr id="22" name="Picture 21" descr="A group of blue and white squares with a white letter&#10;&#10;AI-generated content may be incorrect.">
            <a:extLst>
              <a:ext uri="{FF2B5EF4-FFF2-40B4-BE49-F238E27FC236}">
                <a16:creationId xmlns:a16="http://schemas.microsoft.com/office/drawing/2014/main" id="{832E7D84-A7C5-6D4C-25BB-D9A53D16048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823" y="5628377"/>
            <a:ext cx="2980944" cy="2980944"/>
          </a:xfrm>
          <a:prstGeom prst="rect">
            <a:avLst/>
          </a:prstGeom>
        </p:spPr>
      </p:pic>
      <p:pic>
        <p:nvPicPr>
          <p:cNvPr id="24" name="Picture 23" descr="A logo of a company&#10;&#10;AI-generated content may be incorrect.">
            <a:extLst>
              <a:ext uri="{FF2B5EF4-FFF2-40B4-BE49-F238E27FC236}">
                <a16:creationId xmlns:a16="http://schemas.microsoft.com/office/drawing/2014/main" id="{03A25FC8-17B6-D75C-DF2B-C8D76E14C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783" y="4406371"/>
            <a:ext cx="7233275" cy="5424956"/>
          </a:xfrm>
          <a:prstGeom prst="rect">
            <a:avLst/>
          </a:prstGeom>
        </p:spPr>
      </p:pic>
      <p:pic>
        <p:nvPicPr>
          <p:cNvPr id="26" name="Picture 25" descr="A blue hexagon with white letter c and plus symbols&#10;&#10;AI-generated content may be incorrect.">
            <a:extLst>
              <a:ext uri="{FF2B5EF4-FFF2-40B4-BE49-F238E27FC236}">
                <a16:creationId xmlns:a16="http://schemas.microsoft.com/office/drawing/2014/main" id="{6760F619-5CE1-8610-72E3-70C101E0811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7609" y="2150250"/>
            <a:ext cx="4795068" cy="3596301"/>
          </a:xfrm>
          <a:prstGeom prst="rect">
            <a:avLst/>
          </a:prstGeom>
        </p:spPr>
      </p:pic>
      <p:pic>
        <p:nvPicPr>
          <p:cNvPr id="28" name="Picture 27" descr="A purple ribbon in a shape of a infinity symbol&#10;&#10;AI-generated content may be incorrect.">
            <a:extLst>
              <a:ext uri="{FF2B5EF4-FFF2-40B4-BE49-F238E27FC236}">
                <a16:creationId xmlns:a16="http://schemas.microsoft.com/office/drawing/2014/main" id="{83A5B54D-CD20-EA09-A2B7-966A4BA671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052" y="2251085"/>
            <a:ext cx="2980944" cy="2980944"/>
          </a:xfrm>
          <a:prstGeom prst="rect">
            <a:avLst/>
          </a:prstGeom>
        </p:spPr>
      </p:pic>
      <p:pic>
        <p:nvPicPr>
          <p:cNvPr id="30" name="Picture 29" descr="A red and black sign&#10;&#10;AI-generated content may be incorrect.">
            <a:extLst>
              <a:ext uri="{FF2B5EF4-FFF2-40B4-BE49-F238E27FC236}">
                <a16:creationId xmlns:a16="http://schemas.microsoft.com/office/drawing/2014/main" id="{1828767A-706D-28FB-7C0B-BFA15E15643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770" y="2251085"/>
            <a:ext cx="2916013" cy="2980944"/>
          </a:xfrm>
          <a:prstGeom prst="rect">
            <a:avLst/>
          </a:prstGeom>
        </p:spPr>
      </p:pic>
      <p:pic>
        <p:nvPicPr>
          <p:cNvPr id="38" name="Picture 37" descr="A white square with black text&#10;&#10;AI-generated content may be incorrect.">
            <a:extLst>
              <a:ext uri="{FF2B5EF4-FFF2-40B4-BE49-F238E27FC236}">
                <a16:creationId xmlns:a16="http://schemas.microsoft.com/office/drawing/2014/main" id="{1E22FB1F-121A-C823-DE1B-089B25DD0B5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3746" y="2266368"/>
            <a:ext cx="2980944" cy="2980944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1639863" y="545496"/>
            <a:ext cx="15008274" cy="10560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135"/>
              </a:lnSpc>
            </a:pPr>
            <a:r>
              <a:rPr lang="en-US" sz="72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Used </a:t>
            </a:r>
            <a:r>
              <a:rPr lang="en-US" sz="7200" dirty="0" err="1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tehnologies</a:t>
            </a:r>
            <a:endParaRPr lang="en-US" sz="7200" dirty="0">
              <a:solidFill>
                <a:srgbClr val="FFFFFF"/>
              </a:solidFill>
              <a:latin typeface="Horizon"/>
              <a:ea typeface="Horizon"/>
              <a:cs typeface="Horizon"/>
              <a:sym typeface="Horizon"/>
            </a:endParaRPr>
          </a:p>
        </p:txBody>
      </p:sp>
      <p:pic>
        <p:nvPicPr>
          <p:cNvPr id="32" name="Picture 31" descr="A logo of a cat&#10;&#10;AI-generated content may be incorrect.">
            <a:extLst>
              <a:ext uri="{FF2B5EF4-FFF2-40B4-BE49-F238E27FC236}">
                <a16:creationId xmlns:a16="http://schemas.microsoft.com/office/drawing/2014/main" id="{52916E03-9355-0BD2-7676-22B5ACBE5CF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170" y="2124493"/>
            <a:ext cx="2980944" cy="2980944"/>
          </a:xfrm>
          <a:prstGeom prst="rect">
            <a:avLst/>
          </a:prstGeom>
        </p:spPr>
      </p:pic>
      <p:pic>
        <p:nvPicPr>
          <p:cNvPr id="34" name="Picture 33" descr="A blue and purple circle with white text&#10;&#10;AI-generated content may be incorrect.">
            <a:extLst>
              <a:ext uri="{FF2B5EF4-FFF2-40B4-BE49-F238E27FC236}">
                <a16:creationId xmlns:a16="http://schemas.microsoft.com/office/drawing/2014/main" id="{8BB291E8-E3EA-ACCD-E941-C9B32D3679CC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36074" y="5628377"/>
            <a:ext cx="2980944" cy="2980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216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420600" y="5024788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7" y="0"/>
                </a:lnTo>
                <a:lnTo>
                  <a:pt x="7309077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  <p:sp>
        <p:nvSpPr>
          <p:cNvPr id="4" name="TextBox 4"/>
          <p:cNvSpPr txBox="1"/>
          <p:nvPr/>
        </p:nvSpPr>
        <p:spPr>
          <a:xfrm>
            <a:off x="2823753" y="5024788"/>
            <a:ext cx="12640494" cy="16158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0789"/>
              </a:lnSpc>
            </a:pPr>
            <a:r>
              <a:rPr lang="en-US" sz="15000" dirty="0">
                <a:solidFill>
                  <a:srgbClr val="FFFFFF"/>
                </a:solidFill>
                <a:latin typeface="Horizon"/>
                <a:ea typeface="Horizon"/>
                <a:cs typeface="Horizon"/>
                <a:sym typeface="Horizon"/>
              </a:rPr>
              <a:t>Lets go !</a:t>
            </a:r>
          </a:p>
        </p:txBody>
      </p:sp>
      <p:sp>
        <p:nvSpPr>
          <p:cNvPr id="6" name="Freeform 6"/>
          <p:cNvSpPr/>
          <p:nvPr/>
        </p:nvSpPr>
        <p:spPr>
          <a:xfrm>
            <a:off x="-2286000" y="-612236"/>
            <a:ext cx="7309077" cy="7309077"/>
          </a:xfrm>
          <a:custGeom>
            <a:avLst/>
            <a:gdLst/>
            <a:ahLst/>
            <a:cxnLst/>
            <a:rect l="l" t="t" r="r" b="b"/>
            <a:pathLst>
              <a:path w="7309077" h="7309077">
                <a:moveTo>
                  <a:pt x="0" y="0"/>
                </a:moveTo>
                <a:lnTo>
                  <a:pt x="7309076" y="0"/>
                </a:lnTo>
                <a:lnTo>
                  <a:pt x="7309076" y="7309077"/>
                </a:lnTo>
                <a:lnTo>
                  <a:pt x="0" y="73090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bg-BG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Object"/>
      </p:transition>
    </mc:Choice>
    <mc:Fallback xmlns="">
      <p:transition spd="slow" advClick="0" advTm="1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182</Words>
  <Application>Microsoft Office PowerPoint</Application>
  <PresentationFormat>Custom</PresentationFormat>
  <Paragraphs>49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Garet</vt:lpstr>
      <vt:lpstr>Aptos</vt:lpstr>
      <vt:lpstr>Arial</vt:lpstr>
      <vt:lpstr>Horizon</vt:lpstr>
      <vt:lpstr>Garet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Digitronix Presentation</dc:title>
  <dc:creator>Selin Vatansever</dc:creator>
  <cp:lastModifiedBy>Rafail Kolibarov</cp:lastModifiedBy>
  <cp:revision>4</cp:revision>
  <dcterms:created xsi:type="dcterms:W3CDTF">2006-08-16T00:00:00Z</dcterms:created>
  <dcterms:modified xsi:type="dcterms:W3CDTF">2025-12-08T04:45:52Z</dcterms:modified>
  <dc:identifier>DAG6w7E6qpA</dc:identifier>
</cp:coreProperties>
</file>